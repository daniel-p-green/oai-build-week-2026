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3c75a1f0b54aee" /><Relationship Type="http://schemas.openxmlformats.org/officeDocument/2006/relationships/extended-properties" Target="/docProps/app.xml" Id="Rc3c3778874f24486" /><Relationship Type="http://schemas.openxmlformats.org/officeDocument/2006/relationships/officeDocument" Target="/ppt/presentation.xml" Id="Ra4ca032b64cf482a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8d54354dd4994fd7"/>
  </p:sldMasterIdLst>
  <p:notesMasterIdLst>
    <p:notesMasterId xmlns:r="http://schemas.openxmlformats.org/officeDocument/2006/relationships" r:id="Rfb2da80adc57425d"/>
  </p:notesMasterIdLst>
  <p:sldIdLst>
    <p:sldId xmlns:r="http://schemas.openxmlformats.org/officeDocument/2006/relationships" id="256" r:id="R16ee0c256ad546ba"/>
    <p:sldId xmlns:r="http://schemas.openxmlformats.org/officeDocument/2006/relationships" id="257" r:id="R1bb8c9fc07ad4c7a"/>
    <p:sldId xmlns:r="http://schemas.openxmlformats.org/officeDocument/2006/relationships" id="258" r:id="Rd1755374ed144121"/>
    <p:sldId xmlns:r="http://schemas.openxmlformats.org/officeDocument/2006/relationships" id="259" r:id="R80935a9f1b3f4e7e"/>
    <p:sldId xmlns:r="http://schemas.openxmlformats.org/officeDocument/2006/relationships" id="260" r:id="R20cf556da8114c07"/>
    <p:sldId xmlns:r="http://schemas.openxmlformats.org/officeDocument/2006/relationships" id="261" r:id="Rd1a72f0c12c9468d"/>
    <p:sldId xmlns:r="http://schemas.openxmlformats.org/officeDocument/2006/relationships" id="262" r:id="R09d31be784e042a3"/>
    <p:sldId xmlns:r="http://schemas.openxmlformats.org/officeDocument/2006/relationships" id="263" r:id="Rc59486f345b34b73"/>
    <p:sldId xmlns:r="http://schemas.openxmlformats.org/officeDocument/2006/relationships" id="264" r:id="Rb6932e739b3b43a7"/>
    <p:sldId xmlns:r="http://schemas.openxmlformats.org/officeDocument/2006/relationships" id="265" r:id="R51efb17fe1ff421c"/>
    <p:sldId xmlns:r="http://schemas.openxmlformats.org/officeDocument/2006/relationships" id="266" r:id="R7d04b868d8d84e3f"/>
    <p:sldId xmlns:r="http://schemas.openxmlformats.org/officeDocument/2006/relationships" id="267" r:id="Rbcb6ad7e3d57498a"/>
    <p:sldId xmlns:r="http://schemas.openxmlformats.org/officeDocument/2006/relationships" id="268" r:id="Rebf75bc71c1945fc"/>
    <p:sldId xmlns:r="http://schemas.openxmlformats.org/officeDocument/2006/relationships" id="269" r:id="R0377d07f2a034dd4"/>
    <p:sldId xmlns:r="http://schemas.openxmlformats.org/officeDocument/2006/relationships" id="270" r:id="R4cd235e8aa14426b"/>
    <p:sldId xmlns:r="http://schemas.openxmlformats.org/officeDocument/2006/relationships" id="271" r:id="Rb687412039e149d8"/>
    <p:sldId xmlns:r="http://schemas.openxmlformats.org/officeDocument/2006/relationships" id="272" r:id="Ra6f286936e004504"/>
    <p:sldId xmlns:r="http://schemas.openxmlformats.org/officeDocument/2006/relationships" id="273" r:id="Ra0136842049a413d"/>
    <p:sldId xmlns:r="http://schemas.openxmlformats.org/officeDocument/2006/relationships" id="274" r:id="R08774200ea4441ef"/>
    <p:sldId xmlns:r="http://schemas.openxmlformats.org/officeDocument/2006/relationships" id="275" r:id="R295793a9a3a944b1"/>
    <p:sldId xmlns:r="http://schemas.openxmlformats.org/officeDocument/2006/relationships" id="276" r:id="R8233db5b3600487b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5075ae800ce54b59"/>
      <p:bold xmlns:r="http://schemas.openxmlformats.org/officeDocument/2006/relationships" r:id="Reb88567b09604a32"/>
      <p:italic xmlns:r="http://schemas.openxmlformats.org/officeDocument/2006/relationships" r:id="R278a4f4f57844cb3"/>
      <p:boldItalic xmlns:r="http://schemas.openxmlformats.org/officeDocument/2006/relationships" r:id="Rfcb0f64192624144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670912613e441d" /><Relationship Type="http://schemas.openxmlformats.org/officeDocument/2006/relationships/slideMaster" Target="/ppt/slideMasters/slideMaster1.xml" Id="R8d54354dd4994fd7" /><Relationship Type="http://schemas.openxmlformats.org/officeDocument/2006/relationships/notesMaster" Target="/ppt/notesMasters/notesMaster1.xml" Id="Rfb2da80adc57425d" /><Relationship Type="http://schemas.openxmlformats.org/officeDocument/2006/relationships/presProps" Target="/ppt/presProps.xml" Id="Rb503399c28e342ab" /><Relationship Type="http://schemas.openxmlformats.org/officeDocument/2006/relationships/viewProps" Target="/ppt/viewProps.xml" Id="R11adf3480a424f37" /><Relationship Type="http://schemas.openxmlformats.org/officeDocument/2006/relationships/tableStyles" Target="/ppt/tableStyles.xml" Id="R08aa886f4e654dc9" /><Relationship Type="http://schemas.openxmlformats.org/officeDocument/2006/relationships/font" Target="/ppt/fonts/font.dat" Id="R5075ae800ce54b59" /><Relationship Type="http://schemas.openxmlformats.org/officeDocument/2006/relationships/font" Target="/ppt/fonts/font2.dat" Id="Reb88567b09604a32" /><Relationship Type="http://schemas.openxmlformats.org/officeDocument/2006/relationships/font" Target="/ppt/fonts/font3.dat" Id="R278a4f4f57844cb3" /><Relationship Type="http://schemas.openxmlformats.org/officeDocument/2006/relationships/font" Target="/ppt/fonts/font4.dat" Id="Rfcb0f64192624144" /><Relationship Type="http://schemas.openxmlformats.org/officeDocument/2006/relationships/slide" Target="/ppt/slides/slide1.xml" Id="R16ee0c256ad546ba" /><Relationship Type="http://schemas.openxmlformats.org/officeDocument/2006/relationships/slide" Target="/ppt/slides/slide2.xml" Id="R1bb8c9fc07ad4c7a" /><Relationship Type="http://schemas.openxmlformats.org/officeDocument/2006/relationships/slide" Target="/ppt/slides/slide3.xml" Id="Rd1755374ed144121" /><Relationship Type="http://schemas.openxmlformats.org/officeDocument/2006/relationships/slide" Target="/ppt/slides/slide4.xml" Id="R80935a9f1b3f4e7e" /><Relationship Type="http://schemas.openxmlformats.org/officeDocument/2006/relationships/slide" Target="/ppt/slides/slide5.xml" Id="R20cf556da8114c07" /><Relationship Type="http://schemas.openxmlformats.org/officeDocument/2006/relationships/slide" Target="/ppt/slides/slide6.xml" Id="Rd1a72f0c12c9468d" /><Relationship Type="http://schemas.openxmlformats.org/officeDocument/2006/relationships/slide" Target="/ppt/slides/slide7.xml" Id="R09d31be784e042a3" /><Relationship Type="http://schemas.openxmlformats.org/officeDocument/2006/relationships/slide" Target="/ppt/slides/slide8.xml" Id="Rc59486f345b34b73" /><Relationship Type="http://schemas.openxmlformats.org/officeDocument/2006/relationships/slide" Target="/ppt/slides/slide9.xml" Id="Rb6932e739b3b43a7" /><Relationship Type="http://schemas.openxmlformats.org/officeDocument/2006/relationships/slide" Target="/ppt/slides/slide10.xml" Id="R51efb17fe1ff421c" /><Relationship Type="http://schemas.openxmlformats.org/officeDocument/2006/relationships/slide" Target="/ppt/slides/slide11.xml" Id="R7d04b868d8d84e3f" /><Relationship Type="http://schemas.openxmlformats.org/officeDocument/2006/relationships/slide" Target="/ppt/slides/slide12.xml" Id="Rbcb6ad7e3d57498a" /><Relationship Type="http://schemas.openxmlformats.org/officeDocument/2006/relationships/slide" Target="/ppt/slides/slide13.xml" Id="Rebf75bc71c1945fc" /><Relationship Type="http://schemas.openxmlformats.org/officeDocument/2006/relationships/slide" Target="/ppt/slides/slide14.xml" Id="R0377d07f2a034dd4" /><Relationship Type="http://schemas.openxmlformats.org/officeDocument/2006/relationships/slide" Target="/ppt/slides/slide15.xml" Id="R4cd235e8aa14426b" /><Relationship Type="http://schemas.openxmlformats.org/officeDocument/2006/relationships/slide" Target="/ppt/slides/slide16.xml" Id="Rb687412039e149d8" /><Relationship Type="http://schemas.openxmlformats.org/officeDocument/2006/relationships/slide" Target="/ppt/slides/slide17.xml" Id="Ra6f286936e004504" /><Relationship Type="http://schemas.openxmlformats.org/officeDocument/2006/relationships/slide" Target="/ppt/slides/slide18.xml" Id="Ra0136842049a413d" /><Relationship Type="http://schemas.openxmlformats.org/officeDocument/2006/relationships/slide" Target="/ppt/slides/slide19.xml" Id="R08774200ea4441ef" /><Relationship Type="http://schemas.openxmlformats.org/officeDocument/2006/relationships/slide" Target="/ppt/slides/slide20.xml" Id="R295793a9a3a944b1" /><Relationship Type="http://schemas.openxmlformats.org/officeDocument/2006/relationships/slide" Target="/ppt/slides/slide21.xml" Id="R8233db5b360048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b0f1fb20cb4b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a32efbb8d44366" /><Relationship Type="http://schemas.openxmlformats.org/officeDocument/2006/relationships/notesMaster" Target="/ppt/notesMasters/notesMaster1.xml" Id="R7a3f6469bc4d40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e7bf1927fe41e5" /><Relationship Type="http://schemas.openxmlformats.org/officeDocument/2006/relationships/notesMaster" Target="/ppt/notesMasters/notesMaster1.xml" Id="Rd5e5f068804f49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0e47cb38704c3a" /><Relationship Type="http://schemas.openxmlformats.org/officeDocument/2006/relationships/notesMaster" Target="/ppt/notesMasters/notesMaster1.xml" Id="Rf6678f8bbcfc40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fdf92877c5485b" /><Relationship Type="http://schemas.openxmlformats.org/officeDocument/2006/relationships/notesMaster" Target="/ppt/notesMasters/notesMaster1.xml" Id="Rc33e42187aa849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9c8c200b394ac7" /><Relationship Type="http://schemas.openxmlformats.org/officeDocument/2006/relationships/notesMaster" Target="/ppt/notesMasters/notesMaster1.xml" Id="Rc92486ecf5a34c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1598cdfd3c4e6c" /><Relationship Type="http://schemas.openxmlformats.org/officeDocument/2006/relationships/notesMaster" Target="/ppt/notesMasters/notesMaster1.xml" Id="R138d53f815ac45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7c2a5ee49c441d" /><Relationship Type="http://schemas.openxmlformats.org/officeDocument/2006/relationships/notesMaster" Target="/ppt/notesMasters/notesMaster1.xml" Id="R2cd1499452eb4e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a463186bc54f47" /><Relationship Type="http://schemas.openxmlformats.org/officeDocument/2006/relationships/notesMaster" Target="/ppt/notesMasters/notesMaster1.xml" Id="Rc7b2a3fbbcb044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6af9be597a452c" /><Relationship Type="http://schemas.openxmlformats.org/officeDocument/2006/relationships/notesMaster" Target="/ppt/notesMasters/notesMaster1.xml" Id="Rca2e2a6bf93a43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af975d5c404774" /><Relationship Type="http://schemas.openxmlformats.org/officeDocument/2006/relationships/notesMaster" Target="/ppt/notesMasters/notesMaster1.xml" Id="Ra899de34daf44e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799da9599f461c" /><Relationship Type="http://schemas.openxmlformats.org/officeDocument/2006/relationships/notesMaster" Target="/ppt/notesMasters/notesMaster1.xml" Id="R989f1ae9d5da43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e6cb22ec064cb4" /><Relationship Type="http://schemas.openxmlformats.org/officeDocument/2006/relationships/notesMaster" Target="/ppt/notesMasters/notesMaster1.xml" Id="R5b83609943ab47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efa02949e44950" /><Relationship Type="http://schemas.openxmlformats.org/officeDocument/2006/relationships/notesMaster" Target="/ppt/notesMasters/notesMaster1.xml" Id="R2d830597829d4aa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e727427c4c4e58" /><Relationship Type="http://schemas.openxmlformats.org/officeDocument/2006/relationships/notesMaster" Target="/ppt/notesMasters/notesMaster1.xml" Id="R21ff5cae4f234b1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1523922868f40a4" /><Relationship Type="http://schemas.openxmlformats.org/officeDocument/2006/relationships/notesMaster" Target="/ppt/notesMasters/notesMaster1.xml" Id="R5396d080f4564f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da3d62696d24b59" /><Relationship Type="http://schemas.openxmlformats.org/officeDocument/2006/relationships/notesMaster" Target="/ppt/notesMasters/notesMaster1.xml" Id="R959217dad1784b0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8431a7987284c96" /><Relationship Type="http://schemas.openxmlformats.org/officeDocument/2006/relationships/notesMaster" Target="/ppt/notesMasters/notesMaster1.xml" Id="R41049d08656345e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6a836f6960b4f32" /><Relationship Type="http://schemas.openxmlformats.org/officeDocument/2006/relationships/notesMaster" Target="/ppt/notesMasters/notesMaster1.xml" Id="Rbd0795d16076440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8890012de104011" /><Relationship Type="http://schemas.openxmlformats.org/officeDocument/2006/relationships/notesMaster" Target="/ppt/notesMasters/notesMaster1.xml" Id="Rbf3f5bda94bb41c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94bd45ef2a548dd" /><Relationship Type="http://schemas.openxmlformats.org/officeDocument/2006/relationships/notesMaster" Target="/ppt/notesMasters/notesMaster1.xml" Id="Re21884f8f58c401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6a923d1a4f647b7" /><Relationship Type="http://schemas.openxmlformats.org/officeDocument/2006/relationships/notesMaster" Target="/ppt/notesMasters/notesMaster1.xml" Id="Rdac076ab4c894b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624efc3d4444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8253fcbc104e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c5928bb2c748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69db421c1e426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a9b779156541b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b5c7eb821e47c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296b52e0b843a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d6b5ba0e6d443f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df799b892e4558" /><Relationship Type="http://schemas.openxmlformats.org/officeDocument/2006/relationships/slideLayout" Target="/ppt/slideLayouts/slideLayout1.xml" Id="Reeacc3f4fc984813" /><Relationship Type="http://schemas.openxmlformats.org/officeDocument/2006/relationships/slideLayout" Target="/ppt/slideLayouts/slideLayout2.xml" Id="Re3adba12877b43b2" /><Relationship Type="http://schemas.openxmlformats.org/officeDocument/2006/relationships/slideLayout" Target="/ppt/slideLayouts/slideLayout3.xml" Id="R9e76f38fc14f49dc" /><Relationship Type="http://schemas.openxmlformats.org/officeDocument/2006/relationships/slideLayout" Target="/ppt/slideLayouts/slideLayout4.xml" Id="Rcc9b9f2298c24524" /><Relationship Type="http://schemas.openxmlformats.org/officeDocument/2006/relationships/slideLayout" Target="/ppt/slideLayouts/slideLayout5.xml" Id="R0ce53f35f04a4b38" /><Relationship Type="http://schemas.openxmlformats.org/officeDocument/2006/relationships/slideLayout" Target="/ppt/slideLayouts/slideLayout6.xml" Id="R9fae1499f8414c3a" /><Relationship Type="http://schemas.openxmlformats.org/officeDocument/2006/relationships/slideLayout" Target="/ppt/slideLayouts/slideLayout7.xml" Id="R93b9b85fab2548b5" /><Relationship Type="http://schemas.openxmlformats.org/officeDocument/2006/relationships/slideLayout" Target="/ppt/slideLayouts/slideLayout8.xml" Id="R65dac27f83d346b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acc3f4fc984813"/>
    <p:sldLayoutId xmlns:r="http://schemas.openxmlformats.org/officeDocument/2006/relationships" id="2147483650" r:id="Re3adba12877b43b2"/>
    <p:sldLayoutId xmlns:r="http://schemas.openxmlformats.org/officeDocument/2006/relationships" id="2147483651" r:id="R9e76f38fc14f49dc"/>
    <p:sldLayoutId xmlns:r="http://schemas.openxmlformats.org/officeDocument/2006/relationships" id="2147483652" r:id="Rcc9b9f2298c24524"/>
    <p:sldLayoutId xmlns:r="http://schemas.openxmlformats.org/officeDocument/2006/relationships" id="2147483653" r:id="R0ce53f35f04a4b38"/>
    <p:sldLayoutId xmlns:r="http://schemas.openxmlformats.org/officeDocument/2006/relationships" id="2147483654" r:id="R9fae1499f8414c3a"/>
    <p:sldLayoutId xmlns:r="http://schemas.openxmlformats.org/officeDocument/2006/relationships" id="2147483655" r:id="R93b9b85fab2548b5"/>
    <p:sldLayoutId xmlns:r="http://schemas.openxmlformats.org/officeDocument/2006/relationships" id="2147483656" r:id="R65dac27f83d346b4"/>
  </p:sldLayoutIdLst>
  <p:hf hdr="0" dt="0"/>
  <p:txStyles>
    <p:titleStyle>
      <a:lvl1pPr xmlns:a="http://schemas.openxmlformats.org/drawingml/2006/main" algn="l">
        <a:lnSpc>
          <a:spcPct val="90000"/>
        </a:lnSpc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125b4acf640da" /><Relationship Type="http://schemas.openxmlformats.org/officeDocument/2006/relationships/notesSlide" Target="/ppt/notesSlides/notesSlide1.xml" Id="R8a29a304136349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3c8061d744416" /><Relationship Type="http://schemas.openxmlformats.org/officeDocument/2006/relationships/notesSlide" Target="/ppt/notesSlides/notesSlide2.xml" Id="R7c35a1337a9f41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e97e19a4d54124" /><Relationship Type="http://schemas.openxmlformats.org/officeDocument/2006/relationships/notesSlide" Target="/ppt/notesSlides/notesSlide3.xml" Id="R35d583d63e6c47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d75901e9444d98" /><Relationship Type="http://schemas.openxmlformats.org/officeDocument/2006/relationships/notesSlide" Target="/ppt/notesSlides/notesSlide4.xml" Id="R33df9b1c23e742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76a08eb8444767" /><Relationship Type="http://schemas.openxmlformats.org/officeDocument/2006/relationships/notesSlide" Target="/ppt/notesSlides/notesSlide5.xml" Id="Raae7fb101ba349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cc6b6829584933" /><Relationship Type="http://schemas.openxmlformats.org/officeDocument/2006/relationships/image" Target="/ppt/media/image.png" Id="R61d1b6c2fa2f41bf" /><Relationship Type="http://schemas.openxmlformats.org/officeDocument/2006/relationships/notesSlide" Target="/ppt/notesSlides/notesSlide6.xml" Id="R19a3db7b3c1a41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cf805c73254f6d" /><Relationship Type="http://schemas.openxmlformats.org/officeDocument/2006/relationships/image" Target="/ppt/media/image2.png" Id="R17fc47ede17b4112" /><Relationship Type="http://schemas.openxmlformats.org/officeDocument/2006/relationships/notesSlide" Target="/ppt/notesSlides/notesSlide7.xml" Id="R14b6816b22d042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a9564ca9924514" /><Relationship Type="http://schemas.openxmlformats.org/officeDocument/2006/relationships/image" Target="/ppt/media/image3.png" Id="R5a924a32a36f4215" /><Relationship Type="http://schemas.openxmlformats.org/officeDocument/2006/relationships/notesSlide" Target="/ppt/notesSlides/notesSlide8.xml" Id="Rf672203d3f994e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7c9609f9544f90" /><Relationship Type="http://schemas.openxmlformats.org/officeDocument/2006/relationships/image" Target="/ppt/media/image4.png" Id="Re72662d91a574942" /><Relationship Type="http://schemas.openxmlformats.org/officeDocument/2006/relationships/notesSlide" Target="/ppt/notesSlides/notesSlide9.xml" Id="Rf270dbd6560f44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8d7e44f9af4306" /><Relationship Type="http://schemas.openxmlformats.org/officeDocument/2006/relationships/notesSlide" Target="/ppt/notesSlides/notesSlide10.xml" Id="Ra43a5d37388c46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7b0fb2027f4849" /><Relationship Type="http://schemas.openxmlformats.org/officeDocument/2006/relationships/notesSlide" Target="/ppt/notesSlides/notesSlide11.xml" Id="R86930bd972a24d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8af271b4094c03" /><Relationship Type="http://schemas.openxmlformats.org/officeDocument/2006/relationships/notesSlide" Target="/ppt/notesSlides/notesSlide12.xml" Id="R5ffd04490f8d45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6f89c95fcb47d4" /><Relationship Type="http://schemas.openxmlformats.org/officeDocument/2006/relationships/notesSlide" Target="/ppt/notesSlides/notesSlide13.xml" Id="Rcf1323025cc741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c351508f4d4e8e" /><Relationship Type="http://schemas.openxmlformats.org/officeDocument/2006/relationships/notesSlide" Target="/ppt/notesSlides/notesSlide14.xml" Id="R56345c5c58eb4b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f6ff9b68e14b6f" /><Relationship Type="http://schemas.openxmlformats.org/officeDocument/2006/relationships/notesSlide" Target="/ppt/notesSlides/notesSlide15.xml" Id="Rb6b6dd8adb0a419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a927a7a537497f" /><Relationship Type="http://schemas.openxmlformats.org/officeDocument/2006/relationships/notesSlide" Target="/ppt/notesSlides/notesSlide16.xml" Id="Rb5996a83419b482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ac7eb565c14895" /><Relationship Type="http://schemas.openxmlformats.org/officeDocument/2006/relationships/notesSlide" Target="/ppt/notesSlides/notesSlide17.xml" Id="R1fc1aa416c034cc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db6576fd004323" /><Relationship Type="http://schemas.openxmlformats.org/officeDocument/2006/relationships/notesSlide" Target="/ppt/notesSlides/notesSlide18.xml" Id="R2b62ae46c1094da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598a0694e54357" /><Relationship Type="http://schemas.openxmlformats.org/officeDocument/2006/relationships/notesSlide" Target="/ppt/notesSlides/notesSlide19.xml" Id="R6ec3499148ef41f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e933087d144702" /><Relationship Type="http://schemas.openxmlformats.org/officeDocument/2006/relationships/notesSlide" Target="/ppt/notesSlides/notesSlide20.xml" Id="R9c08b854185f480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f7cc832f44f8c" /><Relationship Type="http://schemas.openxmlformats.org/officeDocument/2006/relationships/notesSlide" Target="/ppt/notesSlides/notesSlide21.xml" Id="R25cb3d7bf9ff44b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WorkshopLM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42208"/>
            <a:ext cx="5702301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/>
              <a:t>A source-grounded production workspace for serious teams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/>
              <a:t>Project overview · Build Week 2026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OPENAI BUILD WEEK · WORK &amp; PRODUCTIVITY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2579914"/>
            <a:ext cx="9448800" cy="362427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Notebook-style research,</a:t>
            </a:r>
          </a:p>
          <a:p xmlns:a="http://schemas.openxmlformats.org/drawingml/2006/main">
            <a:r>
              <a:rPr sz="7200"/>
              <a:t>but built to finish the work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6157826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WORKSHOPLM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PROJECT BRIEF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WorkshopLM · OpenAI Build Week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Teams do not need another place to collect notes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The gap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Meetings, PDFs, links, and voice capture accumulate faster than teams can turn them into aligned, polished deliverables.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opportunity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Preserve the source trail, shape thinking spatially, approve the brief, then generate a coherent set of finished assets.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WorkshopLM · OpenAI Build Week 2026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workflow turns raw thinking into controlled production</a:t>
            </a:r>
          </a:p>
        </p:txBody>
      </p:sp>
      <p:cxnSp>
        <p:nvCxnSpPr>
          <p:cNvPr id="27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CAPTURE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SHAPE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DELIVER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8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Cluster and edit evidence on the Map.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Approve exactly one brief.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3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Talk, paste, or connect bounded source material.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Keep provenance from the first segment.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917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Apply the locked style.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Approve the storyboard, then render.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BA02CCA-F21B-9365-60C4-CCFEB9244CC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WorkshopLM · OpenAI Build Week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B21B056-C0DC-9927-7975-E8A8720D325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2D86C57-5A36-A9CA-FBAE-7FD6A93121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Three product choices make WorkshopLM meaningfully different</a:t>
            </a:r>
          </a:p>
        </p:txBody>
      </p:sp>
      <p:sp>
        <p:nvSpPr>
          <p:cNvPr id="5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CF52371F-8816-97E4-7F6A-234DB3FE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GROUNDING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Every claim retains a source and locator.</a:t>
            </a:r>
          </a:p>
        </p:txBody>
      </p:sp>
      <p:sp>
        <p:nvSpPr>
          <p:cNvPr id="6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B35EA25F-F28D-25C7-A5DF-16A7EADF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CONSISTENCY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DESIGN.md locks visual intent across outputs.</a:t>
            </a:r>
          </a:p>
        </p:txBody>
      </p:sp>
      <p:sp>
        <p:nvSpPr>
          <p:cNvPr id="7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6E61CDC3-05E3-B689-0BCE-9014DDCB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CONTROL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Brief and storyboard are the only approval gates.</a:t>
            </a:r>
          </a:p>
        </p:txBody>
      </p:sp>
      <p:sp>
        <p:nvSpPr>
          <p:cNvPr id="8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2E9332F7-1AC8-A3A0-635E-D70D0C3E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382303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1F6EAF7D-166C-52A8-35F4-18CE1043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3378212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56E3A8EC-7B67-B778-5CC6-BC028292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97" y="3406849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534396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68" y="6279928"/>
            <a:ext cx="3568732" cy="2412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WorkshopLM · OpenAI Build Week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382375" y="6279928"/>
            <a:ext cx="419100" cy="241268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33375"/>
            <a:ext cx="11404568" cy="6667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Map makes grounding visible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Evidence becomes an editable spatial model—not a chat summary.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Claims carry grounded, derived, creative, or unverified states.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The Map becomes the brief only after approval.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1b6c2fa2f41bf"/>
          <a:stretch xmlns:a="http://schemas.openxmlformats.org/drawingml/2006/main"/>
        </p:blipFill>
        <p:spPr>
          <a:xfrm xmlns:a="http://schemas.openxmlformats.org/drawingml/2006/main">
            <a:off x="6269040" y="1466275"/>
            <a:ext cx="5539740" cy="3462338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68" y="6279928"/>
            <a:ext cx="3568732" cy="2412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WorkshopLM · OpenAI Build Week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382375" y="6279928"/>
            <a:ext cx="419100" cy="241268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33375"/>
            <a:ext cx="11404568" cy="6667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Sources stay one gesture away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Local files, pasted text, public URLs, and captured transcript segments are normalized into bounded evidence.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Source details preserve the exact locator and a path back to the Map.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c47ede17b4112"/>
          <a:stretch xmlns:a="http://schemas.openxmlformats.org/drawingml/2006/main"/>
        </p:blipFill>
        <p:spPr>
          <a:xfrm xmlns:a="http://schemas.openxmlformats.org/drawingml/2006/main">
            <a:off x="6269040" y="1466275"/>
            <a:ext cx="5539740" cy="3462338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68" y="6279928"/>
            <a:ext cx="3568732" cy="2412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WorkshopLM · OpenAI Build Week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382375" y="6279928"/>
            <a:ext cx="419100" cy="241268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33375"/>
            <a:ext cx="11404568" cy="6667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Finished outputs look—and behave—like real artifacts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Decks, infographics, image sets, storyboards, and video open as genuine visual previews.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Quiet badges show source count, brief/style version, and current or stale state without turning the gallery into a dashboard.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24a32a36f4215"/>
          <a:stretch xmlns:a="http://schemas.openxmlformats.org/drawingml/2006/main"/>
        </p:blipFill>
        <p:spPr>
          <a:xfrm xmlns:a="http://schemas.openxmlformats.org/drawingml/2006/main">
            <a:off x="6269040" y="1466275"/>
            <a:ext cx="5539740" cy="3462338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68" y="6279928"/>
            <a:ext cx="3568732" cy="2412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WorkshopLM · OpenAI Build Week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382375" y="6279928"/>
            <a:ext cx="419100" cy="241268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33375"/>
            <a:ext cx="11404568" cy="6667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Storyboard approval protects the expensive render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Panels stay editable before video generation.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Teams can change title, narration, duration, and sequence before approving the final render.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662d91a574942"/>
          <a:stretch xmlns:a="http://schemas.openxmlformats.org/drawingml/2006/main"/>
        </p:blipFill>
        <p:spPr>
          <a:xfrm xmlns:a="http://schemas.openxmlformats.org/drawingml/2006/main">
            <a:off x="6269040" y="1466275"/>
            <a:ext cx="5539740" cy="3462338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BA02CCA-F21B-9365-60C4-CCFEB9244CC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WorkshopLM · OpenAI Build Week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B21B056-C0DC-9927-7975-E8A8720D325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2D86C57-5A36-A9CA-FBAE-7FD6A93121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1500" y="344043"/>
            <a:ext cx="11226832" cy="1047464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demo architecture is local by design</a:t>
            </a:r>
          </a:p>
        </p:txBody>
      </p:sp>
      <p:sp>
        <p:nvSpPr>
          <p:cNvPr id="5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CF52371F-8816-97E4-7F6A-234DB3FE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CHATGPT / CODEX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Conversation, connected context, and the app doorway.</a:t>
            </a:r>
          </a:p>
        </p:txBody>
      </p:sp>
      <p:sp>
        <p:nvSpPr>
          <p:cNvPr id="6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B35EA25F-F28D-25C7-A5DF-16A7EADF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WORKSHOPLM UI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 strong visual workspace in the in-app browser.</a:t>
            </a:r>
          </a:p>
        </p:txBody>
      </p:sp>
      <p:sp>
        <p:nvSpPr>
          <p:cNvPr id="7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6E61CDC3-05E3-B689-0BCE-9014DDCB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LOCAL ENGINE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SQLite, deterministic retrieval, artifact storage, jobs, and HyperFrames.</a:t>
            </a:r>
          </a:p>
        </p:txBody>
      </p:sp>
      <p:sp>
        <p:nvSpPr>
          <p:cNvPr id="8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2E9332F7-1AC8-A3A0-635E-D70D0C3E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382303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1F6EAF7D-166C-52A8-35F4-18CE1043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3378212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56E3A8EC-7B67-B778-5CC6-BC028292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97" y="3406849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5343969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382375" y="6279928"/>
            <a:ext cx="419100" cy="2412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33375"/>
            <a:ext cx="11404568" cy="666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deterministic floor is already real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Recorded fixture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Storyboard panels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Acceptance gates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6 / 6</a:t>
            </a:r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The local product builds, typechecks, lints, and runs the capture → Map → brief → style → storyboard → video seam. These are fixture-mode engineering results—not live-provider proof.</a:t>
            </a:r>
          </a:p>
        </p:txBody>
      </p:sp>
      <p:sp>
        <p:nvSpPr>
          <p:cNvPr id="16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900EC5BE-2B4D-939D-B2BC-321F895D023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WorkshopLM · OpenAI Build Week 2026</a:t>
            </a:r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WorkshopLM · OpenAI Build Week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644297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remaining gap is provider evidence, not product plumbing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VERIFIED NOW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Local sources, citations, Map edits, stale propagation, approvals, queue recovery, artifact rendering, plugin install.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Build + typecheck + lint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Recorded seam passes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UI verified in-app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NOT PROVED YET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Paid GPT-5.6 generation, a real gpt-image-2 coherent batch, final TTS narration, native host persistence.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Spend authorization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Spike A host decision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Final recording proof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The build is honest about its boundary: a strong, runnable production system with deterministic substitutes where provider calls have not yet been authorized.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0AD2B367-4B64-657F-20CC-D17632C47D9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WorkshopLM · OpenAI Build Week 2026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submission proves the product by using the product</a:t>
            </a:r>
          </a:p>
        </p:txBody>
      </p:sp>
      <p:cxnSp>
        <p:nvCxnSpPr>
          <p:cNvPr id="33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RAW INPUT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Capture a dated, messy founder brainstorm as source material.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FINISHED PACKAGE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Generate the deck, visuals, storyboard, video, README, and Devpost copy from one approved brief.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REVEAL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Show the polished submission first—then reveal the unedited source that created it.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013F05BF-0D59-AD7B-B623-A2626D8E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D278DD6-3486-8F28-C119-6A1866BD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AB1D750-F0E1-A3C4-989E-260B04C4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39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WorkshopLM · OpenAI Build Week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WorkshopLM should be one focused ChatGPT App—not a mini operating system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HOST RESPONSIBILITY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ChatGPT handles conversation, connected apps, search, and model interaction. WorkshopLM opens as the visual workspace for shaping and production.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WORKSHOPLM RESPONSIBILITY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Own the Map, source/claim graph, approvals, DESIGN.md, output coherence, and artifact trace. Keep direct app-to-app orchestration out of the promise until proven.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3F6F69E-B773-8572-FA7F-ECBC6977592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68" y="6279928"/>
            <a:ext cx="3568732" cy="2412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WorkshopLM · OpenAI Build Week 2026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671F7CA-962E-B7D5-11E1-86144832BC7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382375" y="6279928"/>
            <a:ext cx="419100" cy="2412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EE0017B1-61AD-F17E-4365-4C53665026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33375"/>
            <a:ext cx="11404568" cy="666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plugin ecosystem is a capability map, not a dependency list</a:t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18AB53F-D83E-C97D-48FB-E643E6A7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OpenAI Developers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API, models, Apps SDK</a:t>
            </a:r>
          </a:p>
        </p:txBody>
      </p:sp>
      <p:sp>
        <p:nvSpPr>
          <p:cNvPr id="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15B6FC25-43EA-8D50-20ED-40A075FC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66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Browser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Real in-app QA</a:t>
            </a:r>
          </a:p>
        </p:txBody>
      </p:sp>
      <p:sp>
        <p:nvSpPr>
          <p:cNvPr id="5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DC86E5BF-3A43-49E0-A1B8-91615035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Granola / Zoom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Meeting evidence</a:t>
            </a:r>
          </a:p>
        </p:txBody>
      </p:sp>
      <p:sp>
        <p:nvSpPr>
          <p:cNvPr id="6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941D607D-4DDA-372A-EE8A-A370B36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679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Google Drive / Slack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Team knowledge</a:t>
            </a:r>
          </a:p>
        </p:txBody>
      </p:sp>
      <p:sp>
        <p:nvSpPr>
          <p:cNvPr id="2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8EA52868-2F57-DCC5-19D5-764181B9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Presentations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Editable decks + QA</a:t>
            </a:r>
          </a:p>
        </p:txBody>
      </p:sp>
      <p:sp>
        <p:nvSpPr>
          <p:cNvPr id="2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751AE029-57A0-A186-E791-1A4462A1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66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HyperFrames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Local video rendering</a:t>
            </a:r>
          </a:p>
        </p:txBody>
      </p:sp>
      <p:sp>
        <p:nvSpPr>
          <p:cNvPr id="30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84CDE6A4-554E-3362-3E09-93D47FDC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Figma / Canva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Design handoff lessons</a:t>
            </a:r>
          </a:p>
        </p:txBody>
      </p:sp>
      <p:sp>
        <p:nvSpPr>
          <p:cNvPr id="31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E0575F69-0E47-58CD-4D15-A728423F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679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Record &amp; Replay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Demo capture evidence</a:t>
            </a:r>
          </a:p>
        </p:txBody>
      </p:sp>
    </p:spTree>
    <p:extLst>
      <p:ext uri="{BB962C8B-B14F-4D97-AF65-F5344CB8AC3E}">
        <p14:creationId xmlns:p14="http://schemas.microsoft.com/office/powerpoint/2010/main" val="34307893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WorkshopLM · OpenAI Build Week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Four plugins should materially shape the hackathon build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OpenAI Developers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Use now for model routing, Realtime, image generation, Apps SDK, and claim-safe API choices.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Presentations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Use now as a real WorkshopLM output path: editable deck, rendered previews, overflow checks, and provenance.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Browser + HyperFrames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Use Browser for the judge-visible local UI; use HyperFrames locally for the approved-storyboard video seam.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WorkshopLM · OpenAI Build Week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Five plugin families are valuable references—not new runtime seams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Granola / Zoom / Drive / Slack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Learn source discovery, permission-aware retrieval, citations, and bounded handoff. Use one sanitized connector in the demo, not four.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Figma / Product Design / Canva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Learn progressive disclosure, brand systems, editable handoff, and review loops. Keep WorkshopLM’s flagship visual experience native.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Remotion / ChatCut / Sites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Keep one video fallback, one optional finishing tool, and Sites as a stretch output. Avoid parallel pipelines before the demo is locked.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WorkshopLM · OpenAI Build Week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Plugin adoption needs four hard guardrails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01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Host boundary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Do not claim private ChatGPT integration or direct app-to-app orchestration until live proof exists.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01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Judge reliability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connector, login, network call, or paid credit may be required to understand the video.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01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Provenance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Imported context must become a local source with exact locators and evidence states.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01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One seam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Every plugin must strengthen capture → Map → brief → outputs → storyboard → video.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Research conclusion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unified Apps model validates WorkshopLM’s direction: one conversational host, one focused interactive app, MCP-backed tools, and connected knowledge. Sources: help.openai.com Apps SDK + Apps in ChatGPT; developers.openai.com/codex/use-cases.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0AD2B367-4B64-657F-20CC-D17632C47D9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WorkshopLM · OpenAI Build Week 2026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next 48 hours should convert proof into a film</a:t>
            </a:r>
          </a:p>
        </p:txBody>
      </p:sp>
      <p:cxnSp>
        <p:nvCxnSpPr>
          <p:cNvPr id="33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TODAY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Authorize provider spend; run GPT-5.6, image, and TTS evidence. Close Spike A. Record the founder brainstorm.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Deduplicate output cards, finish the real image preview, and rehearse the simplified UI. Repair only recording-visible friction.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Record the first full video early. Iterate the submission package from captured proof—not promises.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013F05BF-0D59-AD7B-B623-A2626D8E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JUL 15</a:t>
            </a:r>
          </a:p>
        </p:txBody>
      </p:sp>
      <p:sp>
        <p:nvSpPr>
          <p:cNvPr id="12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D278DD6-3486-8F28-C119-6A1866BD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JUL 14</a:t>
            </a:r>
          </a:p>
        </p:txBody>
      </p:sp>
      <p:sp>
        <p:nvSpPr>
          <p:cNvPr id="1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AB1D750-F0E1-A3C4-989E-260B04C4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39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JUL 16</a:t>
            </a:r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WorkshopLM · OpenAI Build Week 2026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44E025A-983C-6D44-79C6-4612AACD43FC}" type="slidenum">
              <a:t>20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Five founder actions unlock the winning version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Everything else remains delegated to the build loop.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Authorize a bounded OpenAI spend ceiling.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Recommended ceiling: $25 for routing benchmark, coherent image batch, and narration proof. No spend occurs without explicit approval.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Close Spike A: provide a disposable task ID or declare capture fallback final.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Record a dated founder brainstorm and preserve the original file.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Run /feedback from the primary Codex task and record the Session ID.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Protect July 16 for the first complete video recording.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2579914"/>
            <a:ext cx="9448800" cy="362427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A seam-free demo beats</a:t>
            </a:r>
          </a:p>
          <a:p xmlns:a="http://schemas.openxmlformats.org/drawingml/2006/main">
            <a:r>
              <a:rPr sz="7200"/>
              <a:t>another week of features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6157826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RECOMMENDATION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WORKSHOPLM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2026-07-14T20:31:22.2340000Z</dcterms:created>
  <dcterms:modified xsi:type="dcterms:W3CDTF">2026-07-14T20:31:22.2340000Z</dcterms:modified>
</coreProperties>
</file>