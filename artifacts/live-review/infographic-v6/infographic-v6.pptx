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claim-3bc07007d1b8-0-1
Sanitized fixture · chunk 01
claim-3bc07007d1b8-1-1
Sanitized fixture · chunk 02
claim-3bc07007d1b8-2-1
Sanitized fixture · chunk 03
claim-3bc07007d1b8-3-1
Sanitized fixture · chunk 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68E3"/>
          </a:solidFill>
          <a:ln w="12700">
            <a:solidFill>
              <a:srgbClr val="1668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303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INFOGRAPHIC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789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7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Build Week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682496"/>
            <a:ext cx="6748272" cy="1938528"/>
          </a:xfrm>
          <a:prstGeom prst="rect">
            <a:avLst/>
          </a:prstGeom>
          <a:solidFill>
            <a:srgbClr val="F4F2EC"/>
          </a:solidFill>
          <a:ln w="19050">
            <a:solidFill>
              <a:srgbClr val="1668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682496"/>
            <a:ext cx="6748272" cy="54864"/>
          </a:xfrm>
          <a:prstGeom prst="rect">
            <a:avLst/>
          </a:prstGeom>
          <a:solidFill>
            <a:srgbClr val="1668E3"/>
          </a:solidFill>
          <a:ln w="12700">
            <a:solidFill>
              <a:srgbClr val="1668E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837944"/>
            <a:ext cx="256032" cy="256032"/>
          </a:xfrm>
          <a:prstGeom prst="ellipse">
            <a:avLst/>
          </a:prstGeom>
          <a:solidFill>
            <a:srgbClr val="1668E3"/>
          </a:solidFill>
          <a:ln w="12700">
            <a:solidFill>
              <a:srgbClr val="1668E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91566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" dirty="0"/>
          </a:p>
        </p:txBody>
      </p:sp>
      <p:sp>
        <p:nvSpPr>
          <p:cNvPr id="9" name="Text 7"/>
          <p:cNvSpPr/>
          <p:nvPr/>
        </p:nvSpPr>
        <p:spPr>
          <a:xfrm>
            <a:off x="1243584" y="1915668"/>
            <a:ext cx="5925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10" kern="0" dirty="0">
                <a:solidFill>
                  <a:srgbClr val="17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77824" y="221284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turns messy meetings into professional knowledge work teams can defend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77824" y="29443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1816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grounded source documents and brand rules preserving their standards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7824" y="3401568"/>
            <a:ext cx="6309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71816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Recorded fixture brainstorm</a:t>
            </a:r>
            <a:endParaRPr lang="en-US" sz="520" dirty="0"/>
          </a:p>
        </p:txBody>
      </p:sp>
      <p:sp>
        <p:nvSpPr>
          <p:cNvPr id="13" name="Shape 11"/>
          <p:cNvSpPr/>
          <p:nvPr/>
        </p:nvSpPr>
        <p:spPr>
          <a:xfrm>
            <a:off x="7626096" y="1682496"/>
            <a:ext cx="3922776" cy="1938528"/>
          </a:xfrm>
          <a:prstGeom prst="rect">
            <a:avLst/>
          </a:prstGeom>
          <a:solidFill>
            <a:srgbClr val="F4F2EC">
              <a:alpha val="98000"/>
            </a:srgbClr>
          </a:solidFill>
          <a:ln w="10160">
            <a:solidFill>
              <a:srgbClr val="1668E3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45552" y="1837944"/>
            <a:ext cx="256032" cy="256032"/>
          </a:xfrm>
          <a:prstGeom prst="ellipse">
            <a:avLst/>
          </a:prstGeom>
          <a:solidFill>
            <a:srgbClr val="1668E3"/>
          </a:solidFill>
          <a:ln w="12700">
            <a:solidFill>
              <a:srgbClr val="1668E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45552" y="191566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" dirty="0"/>
          </a:p>
        </p:txBody>
      </p:sp>
      <p:sp>
        <p:nvSpPr>
          <p:cNvPr id="16" name="Text 14"/>
          <p:cNvSpPr/>
          <p:nvPr/>
        </p:nvSpPr>
        <p:spPr>
          <a:xfrm>
            <a:off x="8211312" y="1915668"/>
            <a:ext cx="3099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10" kern="0" dirty="0">
                <a:solidFill>
                  <a:srgbClr val="17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7845552" y="2212848"/>
            <a:ext cx="3483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client-ready work is slow and fragmented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45552" y="2944368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1816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understanding, design, and production live in disconnected tools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845552" y="3401568"/>
            <a:ext cx="34838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71816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Recorded fixture brainstorm</a:t>
            </a:r>
            <a:endParaRPr lang="en-US" sz="520" dirty="0"/>
          </a:p>
        </p:txBody>
      </p:sp>
      <p:sp>
        <p:nvSpPr>
          <p:cNvPr id="20" name="Shape 18"/>
          <p:cNvSpPr/>
          <p:nvPr/>
        </p:nvSpPr>
        <p:spPr>
          <a:xfrm>
            <a:off x="658368" y="3767328"/>
            <a:ext cx="3840480" cy="2139696"/>
          </a:xfrm>
          <a:prstGeom prst="rect">
            <a:avLst/>
          </a:prstGeom>
          <a:solidFill>
            <a:srgbClr val="171816"/>
          </a:solidFill>
          <a:ln w="10160">
            <a:solidFill>
              <a:srgbClr val="1718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" y="3922776"/>
            <a:ext cx="256032" cy="256032"/>
          </a:xfrm>
          <a:prstGeom prst="ellipse">
            <a:avLst/>
          </a:prstGeom>
          <a:solidFill>
            <a:srgbClr val="1668E3"/>
          </a:solidFill>
          <a:ln w="12700">
            <a:solidFill>
              <a:srgbClr val="1668E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400050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" dirty="0"/>
          </a:p>
        </p:txBody>
      </p:sp>
      <p:sp>
        <p:nvSpPr>
          <p:cNvPr id="23" name="Text 21"/>
          <p:cNvSpPr/>
          <p:nvPr/>
        </p:nvSpPr>
        <p:spPr>
          <a:xfrm>
            <a:off x="1243584" y="4000500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10" kern="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877824" y="4297680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factual claim retains an exact source locator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7824" y="5029200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4F2EC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evidence stays inspectable from the editable Map through the final presentation and Storyboard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5687568"/>
            <a:ext cx="34015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F4F2EC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Recorded fixture brainstorm</a:t>
            </a:r>
            <a:endParaRPr lang="en-US" sz="520" dirty="0"/>
          </a:p>
        </p:txBody>
      </p:sp>
      <p:sp>
        <p:nvSpPr>
          <p:cNvPr id="27" name="Shape 25"/>
          <p:cNvSpPr/>
          <p:nvPr/>
        </p:nvSpPr>
        <p:spPr>
          <a:xfrm>
            <a:off x="4718304" y="3767328"/>
            <a:ext cx="6830568" cy="2139696"/>
          </a:xfrm>
          <a:prstGeom prst="rect">
            <a:avLst/>
          </a:prstGeom>
          <a:solidFill>
            <a:srgbClr val="1668E3"/>
          </a:solidFill>
          <a:ln w="10160">
            <a:solidFill>
              <a:srgbClr val="1668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392277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400050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b="1" spc="50" kern="0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80" dirty="0"/>
          </a:p>
        </p:txBody>
      </p:sp>
      <p:sp>
        <p:nvSpPr>
          <p:cNvPr id="30" name="Text 28"/>
          <p:cNvSpPr/>
          <p:nvPr/>
        </p:nvSpPr>
        <p:spPr>
          <a:xfrm>
            <a:off x="5303520" y="4000500"/>
            <a:ext cx="6007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1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937760" y="4297680"/>
            <a:ext cx="6391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should use two deliberate sign-offs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4937760" y="5029200"/>
            <a:ext cx="6391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grounded Brief before creating professional knowledge work, then approve the Storyboard before rendering Video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5687568"/>
            <a:ext cx="6391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Recorded fixture brainstorm</a:t>
            </a:r>
            <a:endParaRPr lang="en-US" sz="520" dirty="0"/>
          </a:p>
        </p:txBody>
      </p:sp>
      <p:sp>
        <p:nvSpPr>
          <p:cNvPr id="35" name="Text 32"/>
          <p:cNvSpPr/>
          <p:nvPr/>
        </p:nvSpPr>
        <p:spPr>
          <a:xfrm>
            <a:off x="658368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71816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professional · Approved Brief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WorkshopLM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WorkshopLM Build Week infographic</dc:title>
  <dc:subject>Grounded, source-defensible infographic</dc:subject>
  <dc:creator>WorkshopLM</dc:creator>
  <cp:lastModifiedBy>WorkshopLM</cp:lastModifiedBy>
  <cp:revision>1</cp:revision>
  <dcterms:created xsi:type="dcterms:W3CDTF">2026-07-17T06:24:07Z</dcterms:created>
  <dcterms:modified xsi:type="dcterms:W3CDTF">2026-07-17T06:24:07Z</dcterms:modified>
</cp:coreProperties>
</file>