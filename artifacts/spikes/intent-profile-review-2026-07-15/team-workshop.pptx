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WorkshopLM source trace
Local PDF · GenAI Collective Chapter Startup FAQ.pdf · chunk 05
Claim ID: claim-bb80dd1be045-4-1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WorkshopLM source trace
https://newsletter.aicollective.com/ · chunk 79
Claim ID: claim-60bb5377e97a-78-1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WorkshopLM source trace
https://newsletter.aicollective.com/ · Frequently Asked Questions · What’s The AI Collective itself?
Claim ID: claim-aic-event-formats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WorkshopLM source trace
Derived from approved Workshop brief · validate with AI Collective HQ
Claim ID: derived-30-day-launch-plan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WorkshopLM source trace
Local PDF · GenAI Collective Chapter Startup FAQ.pdf · chunk 30
Claim ID: claim-bb80dd1be045-29-2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WorkshopLM source trace
https://www.aicollective.com/files/Code%20of%20Conduct.pdf · Purpose, Scope, Expected Behavior
https://www.aicollective.com/files/Data%20Privacy%20and%20Use%20Policy%20~%20The%20AI%20Collective.pdf · Introduction and Scope
Claim ID: claim-aic-conduct-privacy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WorkshopLM source trace
Derived from approved Workshop brief · validate with AI Collective HQ
Claim ID: derived-launch-decisions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WorkshopLM source trace
Local PDF · GenAI Collective Chapter Startup FAQ.pdf
https://newsletter.aicollective.com/ · Frequently Asked Questions
Claim ID: derived-launch-recommendation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64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41080" y="0"/>
            <a:ext cx="3566160" cy="6858000"/>
          </a:xfrm>
          <a:prstGeom prst="rect">
            <a:avLst/>
          </a:prstGeom>
          <a:solidFill>
            <a:srgbClr val="171717">
              <a:alpha val="10000"/>
            </a:srgbClr>
          </a:solidFill>
          <a:ln w="12700">
            <a:solidFill>
              <a:srgbClr val="17171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12648" y="475488"/>
            <a:ext cx="661776" cy="804672"/>
          </a:xfrm>
          <a:prstGeom prst="rect">
            <a:avLst/>
          </a:prstGeom>
          <a:solidFill>
            <a:srgbClr val="FAF8F3"/>
          </a:solidFill>
          <a:ln w="12700">
            <a:solidFill>
              <a:srgbClr val="FAF8F3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5800" y="566928"/>
            <a:ext cx="515472" cy="62179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5800" y="4343400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COLLECTIVE · TEAM WORKSHOP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658368" y="4681728"/>
            <a:ext cx="978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Collective chapter launch decision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685800" y="5833872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00000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decision-ready plan for launching a credible, repeatable local chapter.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58368" y="6547104"/>
            <a:ext cx="9966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00000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 brief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11018520" y="651967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0000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640D"/>
          </a:solidFill>
          <a:ln w="12700">
            <a:solidFill>
              <a:srgbClr val="FF640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1078992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FF64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POINT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58368" y="1572768"/>
            <a:ext cx="103784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the local front door to applied AI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685800" y="4041648"/>
            <a:ext cx="64008" cy="1170432"/>
          </a:xfrm>
          <a:prstGeom prst="rect">
            <a:avLst/>
          </a:prstGeom>
          <a:solidFill>
            <a:srgbClr val="FF640D"/>
          </a:solidFill>
          <a:ln w="12700">
            <a:solidFill>
              <a:srgbClr val="FF640D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4005072"/>
            <a:ext cx="8138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chapter lead becomes a visible facilitator and go-to resource for the local AI community.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58368" y="6547104"/>
            <a:ext cx="9966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71717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Chapter Startup FAQ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18520" y="651967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71717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640D"/>
          </a:solidFill>
          <a:ln w="12700">
            <a:solidFill>
              <a:srgbClr val="FF640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749808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FF64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KNOW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85800" y="1353312"/>
            <a:ext cx="3322320" cy="22860"/>
          </a:xfrm>
          <a:prstGeom prst="rect">
            <a:avLst/>
          </a:prstGeom>
          <a:solidFill>
            <a:srgbClr val="FF640D"/>
          </a:solidFill>
          <a:ln w="12700">
            <a:solidFill>
              <a:srgbClr val="FF640D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627632"/>
            <a:ext cx="3322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00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180+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685800" y="2962656"/>
            <a:ext cx="332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71717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419600" y="1353312"/>
            <a:ext cx="3322320" cy="22860"/>
          </a:xfrm>
          <a:prstGeom prst="rect">
            <a:avLst/>
          </a:prstGeom>
          <a:solidFill>
            <a:srgbClr val="FF640D"/>
          </a:solidFill>
          <a:ln w="12700">
            <a:solidFill>
              <a:srgbClr val="FF640D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19600" y="1627632"/>
            <a:ext cx="3322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00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40+</a:t>
            </a:r>
            <a:endParaRPr lang="en-US" sz="5000" dirty="0"/>
          </a:p>
        </p:txBody>
      </p:sp>
      <p:sp>
        <p:nvSpPr>
          <p:cNvPr id="9" name="Text 7"/>
          <p:cNvSpPr/>
          <p:nvPr/>
        </p:nvSpPr>
        <p:spPr>
          <a:xfrm>
            <a:off x="4419600" y="2962656"/>
            <a:ext cx="332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71717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COUNTRIES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8153400" y="1353312"/>
            <a:ext cx="3322320" cy="22860"/>
          </a:xfrm>
          <a:prstGeom prst="rect">
            <a:avLst/>
          </a:prstGeom>
          <a:solidFill>
            <a:srgbClr val="FF640D"/>
          </a:solidFill>
          <a:ln w="12700">
            <a:solidFill>
              <a:srgbClr val="FF640D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53400" y="1627632"/>
            <a:ext cx="3322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00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400+</a:t>
            </a:r>
            <a:endParaRPr lang="en-US" sz="5000" dirty="0"/>
          </a:p>
        </p:txBody>
      </p:sp>
      <p:sp>
        <p:nvSpPr>
          <p:cNvPr id="12" name="Text 10"/>
          <p:cNvSpPr/>
          <p:nvPr/>
        </p:nvSpPr>
        <p:spPr>
          <a:xfrm>
            <a:off x="8153400" y="2962656"/>
            <a:ext cx="332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71717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ORGANIZERS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85800" y="3886200"/>
            <a:ext cx="8961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global community that includes everyone from solo founders to teams at the biggest AI labs in the world.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58368" y="6547104"/>
            <a:ext cx="9966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71717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AI Collective Newsletter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1018520" y="651967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71717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640D"/>
          </a:solidFill>
          <a:ln w="12700">
            <a:solidFill>
              <a:srgbClr val="FF640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1051560"/>
            <a:ext cx="4800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FF64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 TOGETHER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58368" y="1554480"/>
            <a:ext cx="48463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with one repeatable event format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989320" y="1078992"/>
            <a:ext cx="50292" cy="4251960"/>
          </a:xfrm>
          <a:prstGeom prst="rect">
            <a:avLst/>
          </a:prstGeom>
          <a:solidFill>
            <a:srgbClr val="FF640D"/>
          </a:solidFill>
          <a:ln w="12700">
            <a:solidFill>
              <a:srgbClr val="FF640D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46520" y="1508760"/>
            <a:ext cx="461772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network already runs Demo Nights, hackathons, private dinners, and workshops. Choose one format that matches the local audience and can repeat.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58368" y="6547104"/>
            <a:ext cx="9966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71717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AI Collective Newsletter · FAQ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18520" y="651967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71717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640D"/>
          </a:solidFill>
          <a:ln w="12700">
            <a:solidFill>
              <a:srgbClr val="FF640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713232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FF64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PLAN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58368" y="1078992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four-week launch sequence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85800" y="1938528"/>
            <a:ext cx="9326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71717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WorkshopLM recommendation derived from the chapter brief; confirm timing and required approvals with AI Collective HQ.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85800" y="2743200"/>
            <a:ext cx="2468880" cy="32004"/>
          </a:xfrm>
          <a:prstGeom prst="rect">
            <a:avLst/>
          </a:prstGeom>
          <a:solidFill>
            <a:srgbClr val="FF640D"/>
          </a:solidFill>
          <a:ln w="12700">
            <a:solidFill>
              <a:srgbClr val="FF640D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2779776"/>
            <a:ext cx="2468880" cy="1965960"/>
          </a:xfrm>
          <a:prstGeom prst="rect">
            <a:avLst/>
          </a:prstGeom>
          <a:solidFill>
            <a:srgbClr val="FF640D">
              <a:alpha val="5000"/>
            </a:srgbClr>
          </a:solidFill>
          <a:ln w="12700">
            <a:solidFill>
              <a:srgbClr val="FF640D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306324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F64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50392" y="3493008"/>
            <a:ext cx="2057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the lead team and chapter purpose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3474720" y="2743200"/>
            <a:ext cx="2468880" cy="32004"/>
          </a:xfrm>
          <a:prstGeom prst="rect">
            <a:avLst/>
          </a:prstGeom>
          <a:solidFill>
            <a:srgbClr val="FF640D"/>
          </a:solidFill>
          <a:ln w="12700">
            <a:solidFill>
              <a:srgbClr val="FF640D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74720" y="2779776"/>
            <a:ext cx="2468880" cy="1965960"/>
          </a:xfrm>
          <a:prstGeom prst="rect">
            <a:avLst/>
          </a:prstGeom>
          <a:solidFill>
            <a:srgbClr val="FF640D">
              <a:alpha val="5000"/>
            </a:srgbClr>
          </a:solidFill>
          <a:ln w="12700">
            <a:solidFill>
              <a:srgbClr val="FF640D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39312" y="306324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F64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2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39312" y="3493008"/>
            <a:ext cx="2057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the first format, venue, and partner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263640" y="2743200"/>
            <a:ext cx="2468880" cy="32004"/>
          </a:xfrm>
          <a:prstGeom prst="rect">
            <a:avLst/>
          </a:prstGeom>
          <a:solidFill>
            <a:srgbClr val="FF640D"/>
          </a:solidFill>
          <a:ln w="12700">
            <a:solidFill>
              <a:srgbClr val="FF640D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63640" y="2779776"/>
            <a:ext cx="2468880" cy="1965960"/>
          </a:xfrm>
          <a:prstGeom prst="rect">
            <a:avLst/>
          </a:prstGeom>
          <a:solidFill>
            <a:srgbClr val="FF640D">
              <a:alpha val="5000"/>
            </a:srgbClr>
          </a:solidFill>
          <a:ln w="12700">
            <a:solidFill>
              <a:srgbClr val="FF640D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28232" y="306324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F64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3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428232" y="3493008"/>
            <a:ext cx="2057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registration and activate local outreach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9052560" y="2743200"/>
            <a:ext cx="2468880" cy="32004"/>
          </a:xfrm>
          <a:prstGeom prst="rect">
            <a:avLst/>
          </a:prstGeom>
          <a:solidFill>
            <a:srgbClr val="FF640D"/>
          </a:solidFill>
          <a:ln w="12700">
            <a:solidFill>
              <a:srgbClr val="FF640D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052560" y="2779776"/>
            <a:ext cx="2468880" cy="1965960"/>
          </a:xfrm>
          <a:prstGeom prst="rect">
            <a:avLst/>
          </a:prstGeom>
          <a:solidFill>
            <a:srgbClr val="FF640D">
              <a:alpha val="5000"/>
            </a:srgbClr>
          </a:solidFill>
          <a:ln w="12700">
            <a:solidFill>
              <a:srgbClr val="FF640D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217152" y="306324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F64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4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9217152" y="3493008"/>
            <a:ext cx="2057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 the first event and review the evidence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58368" y="6547104"/>
            <a:ext cx="9966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71717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Derived plan · HQ validation required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1018520" y="651967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71717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640D"/>
          </a:solidFill>
          <a:ln w="12700">
            <a:solidFill>
              <a:srgbClr val="FF640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1051560"/>
            <a:ext cx="4800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FF64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 TOGETHER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58368" y="1554480"/>
            <a:ext cx="48463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for financial sustainability before launch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989320" y="1078992"/>
            <a:ext cx="50292" cy="4251960"/>
          </a:xfrm>
          <a:prstGeom prst="rect">
            <a:avLst/>
          </a:prstGeom>
          <a:solidFill>
            <a:srgbClr val="FF640D"/>
          </a:solidFill>
          <a:ln w="12700">
            <a:solidFill>
              <a:srgbClr val="FF640D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46520" y="1508760"/>
            <a:ext cx="461772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 a repeatable venue and partner model as a launch condition—not cleanup after the first event.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58368" y="6547104"/>
            <a:ext cx="9966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71717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Chapter Startup FAQ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18520" y="651967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71717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640D"/>
          </a:solidFill>
          <a:ln w="12700">
            <a:solidFill>
              <a:srgbClr val="FF640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749808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FF64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KNOW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58368" y="1143000"/>
            <a:ext cx="6675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begins at registration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85800" y="2788920"/>
            <a:ext cx="64008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Code of Conduct covers attendees, speakers, sponsors, and volunteers. The current privacy policy governs event registration data and media use.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818120" y="658368"/>
            <a:ext cx="3703320" cy="5440680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183880" y="3886200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F64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SOURCE-BACKED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156448" y="4315968"/>
            <a:ext cx="2834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AF8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Collective · Conduct and Privacy policies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58368" y="6547104"/>
            <a:ext cx="9966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71717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AI Collective · Conduct and Privacy policies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1018520" y="651967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71717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640D"/>
          </a:solidFill>
          <a:ln w="12700">
            <a:solidFill>
              <a:srgbClr val="FF640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932688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FF64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 TOGETHER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58368" y="1353312"/>
            <a:ext cx="5669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three decisions before announcing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85800" y="3063240"/>
            <a:ext cx="5212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71717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launch is credible when ownership, the first experience, and the operating partner are explicit.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720840" y="1078992"/>
            <a:ext cx="4754880" cy="896112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67728" y="140817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64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498080" y="1280160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AF8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owns the chapter and each launch workstream?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720840" y="2194560"/>
            <a:ext cx="4754880" cy="896112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67728" y="252374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64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498080" y="2395728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AF8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the first event format and target date?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720840" y="3310128"/>
            <a:ext cx="4754880" cy="896112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67728" y="363931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64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498080" y="3511296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AF8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venue or partner makes the cadence sustainable?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8368" y="6547104"/>
            <a:ext cx="9966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71717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Derived decision frame · HQ validation required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1018520" y="651967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71717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64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640D"/>
          </a:solidFill>
          <a:ln w="12700">
            <a:solidFill>
              <a:srgbClr val="FF640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932688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ACTION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58368" y="1417320"/>
            <a:ext cx="103784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a 30-day chapter launch sprint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685800" y="4041648"/>
            <a:ext cx="64008" cy="1170432"/>
          </a:xfrm>
          <a:prstGeom prst="rect">
            <a:avLst/>
          </a:prstGeom>
          <a:solidFill>
            <a:srgbClr val="000000">
              <a:alpha val="8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4005072"/>
            <a:ext cx="8138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week one to confirm owners and HQ requirements. Do not announce until the first format, date, venue, and trust obligations have named owners.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58368" y="6547104"/>
            <a:ext cx="9966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00000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WorkshopLM recommendation · grounded in chapter brief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18520" y="651967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0000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WorkshopLM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Collective chapter launch decision</dc:title>
  <dc:subject>Grounded, source-defensible presentation</dc:subject>
  <dc:creator>WorkshopLM</dc:creator>
  <cp:lastModifiedBy>WorkshopLM</cp:lastModifiedBy>
  <cp:revision>1</cp:revision>
  <dcterms:created xsi:type="dcterms:W3CDTF">2026-07-16T04:58:08Z</dcterms:created>
  <dcterms:modified xsi:type="dcterms:W3CDTF">2026-07-16T04:58:08Z</dcterms:modified>
</cp:coreProperties>
</file>